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291840" cy="23274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4688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Oxpecker AI</a:t>
            </a:r>
          </a:p>
          <a:p>
            <a:pPr>
              <a:spcAft>
                <a:spcPts val="1600"/>
              </a:spcAft>
              <a:defRPr sz="2200" b="1">
                <a:solidFill>
                  <a:srgbClr val="0EA5E9"/>
                </a:solidFill>
              </a:defRPr>
            </a:pPr>
            <a:r>
              <a:t>Intelligent Bilingual AI Healthcare &amp; Diagnostic Triage Platform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Transforming primary health access, prescription decoding, and hospital discovery through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284C7"/>
                </a:solidFill>
              </a:defRPr>
            </a:pPr>
            <a:r>
              <a:t>Applicant / Team: EquiSaaS BD  |  Live Portal: https://oxpecker.equisaas-bd.com/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CRITERION 1: ORIGINALITY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1. Originality &amp; The Healthcare Challenge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Current Healthcare Bottlenecks in Bangladesh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Severe Doctor Shortage: </a:t>
            </a:r>
            <a:r>
              <a:rPr b="0" sz="1300">
                <a:solidFill>
                  <a:srgbClr val="1E293B"/>
                </a:solidFill>
              </a:rPr>
              <a:t>High patient-to-doctor ratio causing hours of waiting and delayed triage.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Language &amp; Literacy Barrier: </a:t>
            </a:r>
            <a:r>
              <a:rPr b="0" sz="1300">
                <a:solidFill>
                  <a:srgbClr val="1E293B"/>
                </a:solidFill>
              </a:rPr>
              <a:t>Complex prescriptions and diagnostic reports remain unreadable to general citizens.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Emergency Delays: </a:t>
            </a:r>
            <a:r>
              <a:rPr b="0" sz="1300">
                <a:solidFill>
                  <a:srgbClr val="1E293B"/>
                </a:solidFill>
              </a:rPr>
              <a:t>Lack of instant first-aid guidance and unawareness of immediate emergency protocols (999).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Information Asymmetry: </a:t>
            </a:r>
            <a:r>
              <a:rPr b="0" sz="1300">
                <a:solidFill>
                  <a:srgbClr val="1E293B"/>
                </a:solidFill>
              </a:rPr>
              <a:t>Unavailability of live hospital bed, ICU, and specialist doctor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Originality of Oxpecker AI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Our Novel &amp; Creative Approach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Contextual Bilingual Engine: </a:t>
            </a:r>
            <a:r>
              <a:rPr b="0" sz="1300">
                <a:solidFill>
                  <a:srgbClr val="1E293B"/>
                </a:solidFill>
              </a:rPr>
              <a:t>Native Bengali and English medical NLP understanding local colloquial health terms.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Computer Vision Integration: </a:t>
            </a:r>
            <a:r>
              <a:rPr b="0" sz="1300">
                <a:solidFill>
                  <a:srgbClr val="1E293B"/>
                </a:solidFill>
              </a:rPr>
              <a:t>Extracts and explains handwritten doctor prescriptions and blood reports within seconds.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Built-in Instant Triage: </a:t>
            </a:r>
            <a:r>
              <a:rPr b="0" sz="1300">
                <a:solidFill>
                  <a:srgbClr val="1E293B"/>
                </a:solidFill>
              </a:rPr>
              <a:t>Classifies symptom severity into regular advice, doctor consult, or critical emergency.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Unified Healthcare Ecosystem: </a:t>
            </a:r>
            <a:r>
              <a:rPr b="0" sz="1300">
                <a:solidFill>
                  <a:srgbClr val="1E293B"/>
                </a:solidFill>
              </a:rPr>
              <a:t>Directly connects triage with doctor directories, DGDA medicines, and hospital ICU trackers.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CRITERION 4: TECHNICAL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2. Technical Capability &amp; Architecture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Modern Stack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Robust Foundations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Frontend: </a:t>
            </a:r>
            <a:r>
              <a:rPr b="0" sz="1300">
                <a:solidFill>
                  <a:srgbClr val="1E293B"/>
                </a:solidFill>
              </a:rPr>
              <a:t>Next.js 15, React 19, TypeScript, Tailwind CSS for sub-second UI responsiveness.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Backend &amp; DB: </a:t>
            </a:r>
            <a:r>
              <a:rPr b="0" sz="1300">
                <a:solidFill>
                  <a:srgbClr val="1E293B"/>
                </a:solidFill>
              </a:rPr>
              <a:t>Supabase PostgreSQL, Edge Serverless runtime for global scale.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Security: </a:t>
            </a:r>
            <a:r>
              <a:rPr b="0" sz="1300">
                <a:solidFill>
                  <a:srgbClr val="1E293B"/>
                </a:solidFill>
              </a:rPr>
              <a:t>Strict client-side data protection and safe local storage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Multi-AI Failover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Intelligent Resilience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Orchestration Engine: </a:t>
            </a:r>
            <a:r>
              <a:rPr b="0" sz="1300">
                <a:solidFill>
                  <a:srgbClr val="1E293B"/>
                </a:solidFill>
              </a:rPr>
              <a:t>Seamless switching across Google Gemini, Groq (Llama/Qwen), and local fallbacks.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Zero-Downtime Guarantee: </a:t>
            </a:r>
            <a:r>
              <a:rPr b="0" sz="1300">
                <a:solidFill>
                  <a:srgbClr val="1E293B"/>
                </a:solidFill>
              </a:rPr>
              <a:t>If any provider experiences latency, requests auto-failover in milliseconds.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SSE Streaming: </a:t>
            </a:r>
            <a:r>
              <a:rPr b="0" sz="1300">
                <a:solidFill>
                  <a:srgbClr val="1E293B"/>
                </a:solidFill>
              </a:rPr>
              <a:t>Real-time character streaming for instant conversation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Multimodal AI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Diagnostic Intelligence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Vision &amp; OCR: </a:t>
            </a:r>
            <a:r>
              <a:rPr b="0" sz="1300">
                <a:solidFill>
                  <a:srgbClr val="1E293B"/>
                </a:solidFill>
              </a:rPr>
              <a:t>High accuracy image analysis for prescriptions and lab pathology sheets.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Voice Interface: </a:t>
            </a:r>
            <a:r>
              <a:rPr b="0" sz="1300">
                <a:solidFill>
                  <a:srgbClr val="1E293B"/>
                </a:solidFill>
              </a:rPr>
              <a:t>Built-in Bengali/English speech-to-text for hands-free access.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Emergency Rule Engine: </a:t>
            </a:r>
            <a:r>
              <a:rPr b="0" sz="1300">
                <a:solidFill>
                  <a:srgbClr val="1E293B"/>
                </a:solidFill>
              </a:rPr>
              <a:t>Heuristic + ML emergency detector with 999 dialing triggers.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CRITERIA 2 &amp; 7: IMPACT &amp; INCLUSION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3. Practical Impact &amp; Social Inclusion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Practical Impact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Measurable Positive Outcomes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40% Triage Time Reduction: </a:t>
            </a:r>
            <a:r>
              <a:rPr b="0" sz="1300">
                <a:solidFill>
                  <a:srgbClr val="1E293B"/>
                </a:solidFill>
              </a:rPr>
              <a:t>Helps patients understand their health state before rushing to crowded 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Prescription Error Prevention: </a:t>
            </a:r>
            <a:r>
              <a:rPr b="0" sz="1300">
                <a:solidFill>
                  <a:srgbClr val="1E293B"/>
                </a:solidFill>
              </a:rPr>
              <a:t>Clarifies medicine dosages, frequency, and side effects in simple Bengali.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Empowering Primary Care: </a:t>
            </a:r>
            <a:r>
              <a:rPr b="0" sz="1300">
                <a:solidFill>
                  <a:srgbClr val="1E293B"/>
                </a:solidFill>
              </a:rPr>
              <a:t>Provides 24/7 preliminary medical assessment for underserved families.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Life-Saving Emergency Detection: </a:t>
            </a:r>
            <a:r>
              <a:rPr b="0" sz="1300">
                <a:solidFill>
                  <a:srgbClr val="1E293B"/>
                </a:solidFill>
              </a:rPr>
              <a:t>Instant recognition of stroke, heart attack, and trauma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Social Inclusion &amp; Accessibility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Leaving No One Behind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Democratizing Healthcare: </a:t>
            </a:r>
            <a:r>
              <a:rPr b="0" sz="1300">
                <a:solidFill>
                  <a:srgbClr val="1E293B"/>
                </a:solidFill>
              </a:rPr>
              <a:t>Free accessibility for rural and marginalized communities with low literacy.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Voice-First Accessibility: </a:t>
            </a:r>
            <a:r>
              <a:rPr b="0" sz="1300">
                <a:solidFill>
                  <a:srgbClr val="1E293B"/>
                </a:solidFill>
              </a:rPr>
              <a:t>Elderly and non-literate users can interact naturally via voice commands.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Women &amp; Child Care Focus: </a:t>
            </a:r>
            <a:r>
              <a:rPr b="0" sz="1300">
                <a:solidFill>
                  <a:srgbClr val="1E293B"/>
                </a:solidFill>
              </a:rPr>
              <a:t>Private, judgment-free consultations for maternal health and sensitive conditions.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Zero Cost Entry: </a:t>
            </a:r>
            <a:r>
              <a:rPr b="0" sz="1300">
                <a:solidFill>
                  <a:srgbClr val="1E293B"/>
                </a:solidFill>
              </a:rPr>
              <a:t>Accessible on any standard smartphone browser without demanding hardware.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CRITERIA 3 &amp; 9: MARKET &amp;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4. Market Demand &amp; Commercialization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Market Demand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Unprecedented Growth Vector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Massive Addressable Market: </a:t>
            </a:r>
            <a:r>
              <a:rPr b="0" sz="1300">
                <a:solidFill>
                  <a:srgbClr val="1E293B"/>
                </a:solidFill>
              </a:rPr>
              <a:t>170M+ population with over 130M internet subscribers in Bangladesh.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$6B+ Healthcare Spend: </a:t>
            </a:r>
            <a:r>
              <a:rPr b="0" sz="1300">
                <a:solidFill>
                  <a:srgbClr val="1E293B"/>
                </a:solidFill>
              </a:rPr>
              <a:t>Rapidly rising out-of-pocket expenditure on diagnosis, pharma, and consultations.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Digital Health Surge: </a:t>
            </a:r>
            <a:r>
              <a:rPr b="0" sz="1300">
                <a:solidFill>
                  <a:srgbClr val="1E293B"/>
                </a:solidFill>
              </a:rPr>
              <a:t>Surging adoption of telemedicine and digital appointment scheduling.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Institutional Need: </a:t>
            </a:r>
            <a:r>
              <a:rPr b="0" sz="1300">
                <a:solidFill>
                  <a:srgbClr val="1E293B"/>
                </a:solidFill>
              </a:rPr>
              <a:t>Hospitals actively seek AI tools to streamline chamber queues and emergency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Commercialization Strategy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Multi-Stream Revenue Model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B2B SaaS for Hospitals: </a:t>
            </a:r>
            <a:r>
              <a:rPr b="0" sz="1300">
                <a:solidFill>
                  <a:srgbClr val="1E293B"/>
                </a:solidFill>
              </a:rPr>
              <a:t>Subscription portal for chamber management, e-prescriptions, and bed tracking.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Diagnostic Lab Integration: </a:t>
            </a:r>
            <a:r>
              <a:rPr b="0" sz="1300">
                <a:solidFill>
                  <a:srgbClr val="1E293B"/>
                </a:solidFill>
              </a:rPr>
              <a:t>API partnerships for automated report explanation delivery to patients.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Doctor Consultation Fee Share: </a:t>
            </a:r>
            <a:r>
              <a:rPr b="0" sz="1300">
                <a:solidFill>
                  <a:srgbClr val="1E293B"/>
                </a:solidFill>
              </a:rPr>
              <a:t>Micro-commission on verified specialist appointment bookings.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Enterprise Pharmacy APIs: </a:t>
            </a:r>
            <a:r>
              <a:rPr b="0" sz="1300">
                <a:solidFill>
                  <a:srgbClr val="1E293B"/>
                </a:solidFill>
              </a:rPr>
              <a:t>Medicine dosage validation and DGDA-compliant inventory connectivity.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CRITERION 8: ETHICS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5. Ethics, Safety &amp; Medical Guardrails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Safety &amp; Clinical Protocols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Responsible AI Architecture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Non-Diagnostic Advisory: </a:t>
            </a:r>
            <a:r>
              <a:rPr b="0" sz="1300">
                <a:solidFill>
                  <a:srgbClr val="1E293B"/>
                </a:solidFill>
              </a:rPr>
              <a:t>Clearly establishes that AI provides assistive guidance, not definitive doctor diagnoses.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Immediate Emergency Escalation: </a:t>
            </a:r>
            <a:r>
              <a:rPr b="0" sz="1300">
                <a:solidFill>
                  <a:srgbClr val="1E293B"/>
                </a:solidFill>
              </a:rPr>
              <a:t>Automatic banner &amp; 999 hotline trigger upon detecting red-flag symptoms.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Verified Medical Data: </a:t>
            </a:r>
            <a:r>
              <a:rPr b="0" sz="1300">
                <a:solidFill>
                  <a:srgbClr val="1E293B"/>
                </a:solidFill>
              </a:rPr>
              <a:t>References official DGDA medicines, BMDC registered doctors, and certified facilities.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Anti-Hallucination Guardrails: </a:t>
            </a:r>
            <a:r>
              <a:rPr b="0" sz="1300">
                <a:solidFill>
                  <a:srgbClr val="1E293B"/>
                </a:solidFill>
              </a:rPr>
              <a:t>Strict system prompting preventing dangerous self-medication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Data Ethics &amp; Privacy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Trust &amp; Regulatory Compliance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Confidentiality First: </a:t>
            </a:r>
            <a:r>
              <a:rPr b="0" sz="1300">
                <a:solidFill>
                  <a:srgbClr val="1E293B"/>
                </a:solidFill>
              </a:rPr>
              <a:t>No sale or unauthorized sharing of personal medical or symptom queries.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Secure Architecture: </a:t>
            </a:r>
            <a:r>
              <a:rPr b="0" sz="1300">
                <a:solidFill>
                  <a:srgbClr val="1E293B"/>
                </a:solidFill>
              </a:rPr>
              <a:t>Encrypted communication channels and client-centric session persistence.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Environmental &amp; Green Tech: </a:t>
            </a:r>
            <a:r>
              <a:rPr b="0" sz="1300">
                <a:solidFill>
                  <a:srgbClr val="1E293B"/>
                </a:solidFill>
              </a:rPr>
              <a:t>Optimized lightweight model calls reducing cloud compute energy footprint.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Fairness &amp; Neutrality: </a:t>
            </a:r>
            <a:r>
              <a:rPr b="0" sz="1300">
                <a:solidFill>
                  <a:srgbClr val="1E293B"/>
                </a:solidFill>
              </a:rPr>
              <a:t>Unbiased recommendations regardless of socioeconomic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CRITERIA 5 &amp; 6: SDGS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630"/>
                </a:solidFill>
              </a:defRPr>
            </a:pPr>
            <a:r>
              <a:t>6. SDG Contribution &amp; Team Leadership</a:t>
            </a:r>
          </a:p>
        </p:txBody>
      </p:sp>
      <p:pic>
        <p:nvPicPr>
          <p:cNvPr id="5" name="Picture 4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20040"/>
            <a:ext cx="1828800" cy="1293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United Nations SDGs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Global Alignment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SDG 3: Good Health &amp; Well-Being: </a:t>
            </a:r>
            <a:r>
              <a:rPr b="0" sz="1300">
                <a:solidFill>
                  <a:srgbClr val="1E293B"/>
                </a:solidFill>
              </a:rPr>
              <a:t>Ensures healthy lives and promotes well-being for all at all ages through accessible triage.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SDG 9: Industry, Innovation &amp; Infra: </a:t>
            </a:r>
            <a:r>
              <a:rPr b="0" sz="1300">
                <a:solidFill>
                  <a:srgbClr val="1E293B"/>
                </a:solidFill>
              </a:rPr>
              <a:t>Fosters homegrown AI capabilities, digital health infrastructure, and high-tech innovation.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SDG 10: Reduced Inequalities: </a:t>
            </a:r>
            <a:r>
              <a:rPr b="0" sz="1300">
                <a:solidFill>
                  <a:srgbClr val="1E293B"/>
                </a:solidFill>
              </a:rPr>
              <a:t>Bridges the healthcare divide between metropolitan capitals and remote rural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B1630"/>
                </a:solidFill>
              </a:defRPr>
            </a:pPr>
            <a:r>
              <a:t>Leadership &amp; Execution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Demonstrated Initiative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Agile Full-Stack Capability: </a:t>
            </a:r>
            <a:r>
              <a:rPr b="0" sz="1300">
                <a:solidFill>
                  <a:srgbClr val="1E293B"/>
                </a:solidFill>
              </a:rPr>
              <a:t>EquiSaaS BD team with proven track record in Next.js, AI systems, and cloud scaling.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Rapid Prototyping to Production: </a:t>
            </a:r>
            <a:r>
              <a:rPr b="0" sz="1300">
                <a:solidFill>
                  <a:srgbClr val="1E293B"/>
                </a:solidFill>
              </a:rPr>
              <a:t>Successfully designed, developed, and deployed a live functioning platform.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Institutional Readiness: </a:t>
            </a:r>
            <a:r>
              <a:rPr b="0" sz="1300">
                <a:solidFill>
                  <a:srgbClr val="1E293B"/>
                </a:solidFill>
              </a:rPr>
              <a:t>Open for collaboration with MOHFW, DGHS, a2i, and leading private healthcare networks.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</a:rPr>
              <a:t>Continuous Innovation: </a:t>
            </a:r>
            <a:r>
              <a:rPr b="0" sz="1300">
                <a:solidFill>
                  <a:srgbClr val="1E293B"/>
                </a:solidFill>
              </a:rPr>
              <a:t>Active roadmap for localized medical voice agents and predictive health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xpeck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926080" cy="2068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Empowering Every Citizen with Intelligent Healthcare</a:t>
            </a:r>
          </a:p>
          <a:p>
            <a:pPr>
              <a:spcAft>
                <a:spcPts val="2400"/>
              </a:spcAft>
              <a:defRPr sz="1600">
                <a:solidFill>
                  <a:srgbClr val="E2E8F0"/>
                </a:solidFill>
              </a:defRPr>
            </a:pPr>
            <a:r>
              <a:t>Oxpecker AI is not just a chatbot, it is a comprehensive digital bridge connecting patients, doctors, pharmacies, and emergency services into one accessible national health ecosystem.</a:t>
            </a:r>
          </a:p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</a:defRPr>
            </a:pPr>
            <a:r>
              <a:t>Key Highlights Recap: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- Instant Bengali &amp; English Symptom Triage with 999 Emergency Detection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- AI Prescription Scanner &amp; DGDA-Verified Medicine Directory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- Live Hospital Bed &amp; ICU Tracker + Specialist Doctor Chamber Network</a:t>
            </a:r>
          </a:p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- Ready for Commercialization &amp; Public Health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